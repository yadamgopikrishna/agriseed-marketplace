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>
        <p14:prism isContent="1"/>
      </p:transition>
    </mc:Choice>
    <mc:Fallback>
      <p:transition spd="slow" advClick="0" advTm="5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>
        <p14:prism isContent="1"/>
      </p:transition>
    </mc:Choice>
    <mc:Fallback>
      <p:transition spd="slow" advClick="0" advTm="5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>
        <p14:prism isContent="1"/>
      </p:transition>
    </mc:Choice>
    <mc:Fallback>
      <p:transition spd="slow" advClick="0" advTm="5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>
        <p14:prism isContent="1"/>
      </p:transition>
    </mc:Choice>
    <mc:Fallback>
      <p:transition spd="slow" advClick="0" advTm="5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>
        <p14:prism isContent="1"/>
      </p:transition>
    </mc:Choice>
    <mc:Fallback>
      <p:transition spd="slow" advClick="0" advTm="5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>
        <p14:prism isContent="1"/>
      </p:transition>
    </mc:Choice>
    <mc:Fallback>
      <p:transition spd="slow" advClick="0" advTm="5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>
        <p14:prism isContent="1"/>
      </p:transition>
    </mc:Choice>
    <mc:Fallback>
      <p:transition spd="slow" advClick="0" advTm="5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>
        <p14:prism isContent="1"/>
      </p:transition>
    </mc:Choice>
    <mc:Fallback>
      <p:transition spd="slow" advClick="0" advTm="5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>
        <p14:prism isContent="1"/>
      </p:transition>
    </mc:Choice>
    <mc:Fallback>
      <p:transition spd="slow" advClick="0" advTm="5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>
        <p14:prism isContent="1"/>
      </p:transition>
    </mc:Choice>
    <mc:Fallback>
      <p:transition spd="slow" advClick="0" advTm="5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>
        <p14:prism isContent="1"/>
      </p:transition>
    </mc:Choice>
    <mc:Fallback>
      <p:transition spd="slow" advClick="0" advTm="5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2000" advClick="0" advTm="5000">
        <p14:prism isContent="1"/>
      </p:transition>
    </mc:Choice>
    <mc:Fallback>
      <p:transition spd="slow" advClick="0" advTm="5000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rPr dirty="0"/>
              <a:t>🌱 AGRISEED</a:t>
            </a:r>
          </a:p>
          <a:p>
            <a:pPr>
              <a:spcAft>
                <a:spcPts val="1400"/>
              </a:spcAft>
              <a:defRPr sz="3600" b="1">
                <a:solidFill>
                  <a:srgbClr val="22C55E"/>
                </a:solidFill>
              </a:defRPr>
            </a:pPr>
            <a:r>
              <a:rPr dirty="0"/>
              <a:t>Online Agricultural Marketplace</a:t>
            </a:r>
          </a:p>
          <a:p>
            <a:pPr>
              <a:spcAft>
                <a:spcPts val="2800"/>
              </a:spcAft>
              <a:defRPr sz="2200" i="1">
                <a:solidFill>
                  <a:srgbClr val="FEF3C7"/>
                </a:solidFill>
              </a:defRPr>
            </a:pPr>
            <a:r>
              <a:rPr dirty="0"/>
              <a:t>“Quality Seeds. Better Crops. Better Future.”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rPr dirty="0"/>
              <a:t>A Direct-to-Farmer Marketplace Disintermediating Agricultural Supply Chains</a:t>
            </a:r>
          </a:p>
          <a:p>
            <a:pPr>
              <a:defRPr sz="1300">
                <a:solidFill>
                  <a:srgbClr val="22C55E"/>
                </a:solidFill>
              </a:defRPr>
            </a:pPr>
            <a:r>
              <a:rPr dirty="0"/>
              <a:t>Academic Capstone Project &amp; Prototype Demonstration  |  Python Flask • MongoDB • Modern UI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>
        <p14:prism isContent="1"/>
      </p:transition>
    </mc:Choice>
    <mc:Fallback>
      <p:transition spd="slow" advClick="0" advTm="5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FOUNDATION &amp; MOTIVATION</a:t>
            </a:r>
          </a:p>
          <a:p>
            <a:pPr>
              <a:defRPr sz="2400" b="1">
                <a:solidFill>
                  <a:srgbClr val="14532D"/>
                </a:solidFill>
              </a:defRPr>
            </a:pPr>
            <a:r>
              <a:t>Project Vision &amp; Core Purpose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6634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8346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4532D"/>
                </a:solidFill>
              </a:defRPr>
            </a:pPr>
            <a:r>
              <a:t>🌟  The Vision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Empower Indian smallholder farmers through transparent digital procurement.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Eliminate predatory middlemen margins that inflate cultivation costs.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Ensure 100% access to certified, high-germination seed varieties across remote villages.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17720" y="1828800"/>
            <a:ext cx="28346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4532D"/>
                </a:solidFill>
              </a:defRPr>
            </a:pPr>
            <a:r>
              <a:t>🎯  The Mission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Direct linkage between verified Krishi Kendra cooperatives and farmers.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Complete agronomic transparency: germination %, purity, and dosage guidance.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End-to-end 5-stage rural delivery tracking directly to farm gates.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6634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75320" y="1828800"/>
            <a:ext cx="28346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D97706"/>
                </a:solidFill>
              </a:defRPr>
            </a:pPr>
            <a:r>
              <a:t>📈  Key Impact Metrics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20% - 30% reduction in seed and fertilizer input procurement costs.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90%+ guaranteed germination emergence from certified seed lots.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Zero spurious chemical residue risk with authentic producer licensing.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>
        <p14:prism isContent="1"/>
      </p:transition>
    </mc:Choice>
    <mc:Fallback>
      <p:transition spd="slow" advClick="0" advTm="5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PROBLEM STATEMENT</a:t>
            </a:r>
          </a:p>
          <a:p>
            <a:pPr>
              <a:defRPr sz="2400" b="1">
                <a:solidFill>
                  <a:srgbClr val="14532D"/>
                </a:solidFill>
              </a:defRPr>
            </a:pPr>
            <a:r>
              <a:t>The Real-World Agricultural Crisis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8346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B91C1C"/>
                </a:solidFill>
              </a:defRPr>
            </a:pPr>
            <a:r>
              <a:t>📉  1. Middlemen Exploitation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Complex 4-tier intermediaries: Producer ➔ State Distributor ➔ Mandi Agent ➔ Village Retailer.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Commissions inflate input costs by 25% to 40% before reaching farmers.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Lack of transparent price discovery for rural growers.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17720" y="1828800"/>
            <a:ext cx="28346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B91C1C"/>
                </a:solidFill>
              </a:defRPr>
            </a:pPr>
            <a:r>
              <a:t>⚠️  2. Spurious &amp; Fake Inputs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Over 30% of local mandi seeds suffer from poor germination (&lt; 60%).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Adulterated chemical pesticides cause widespread crop failure and soil toxicity.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No verified provenance or testing batch verification for farmers.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75320" y="1828800"/>
            <a:ext cx="28346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B91C1C"/>
                </a:solidFill>
              </a:defRPr>
            </a:pPr>
            <a:r>
              <a:t>🚚  3. Rural Logistics Barrier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Farmers waste valuable farming days traveling 30-50 km to city mandi shops.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Lack of doorstep transport for heavy 40kg seed bags and fertilizer pouches.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Zero tracking or estimated arrival notifications for sowing schedules.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>
        <p14:prism isContent="1"/>
      </p:transition>
    </mc:Choice>
    <mc:Fallback>
      <p:transition spd="slow" advClick="0" advTm="5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SOLUTION ARCHITECTURE</a:t>
            </a:r>
          </a:p>
          <a:p>
            <a:pPr>
              <a:defRPr sz="2400" b="1">
                <a:solidFill>
                  <a:srgbClr val="14532D"/>
                </a:solidFill>
              </a:defRPr>
            </a:pPr>
            <a:r>
              <a:t>The AgriSeed Direct Marketplace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B91C1C"/>
                </a:solidFill>
              </a:defRPr>
            </a:pPr>
            <a:r>
              <a:t>❌  Traditional Broken Supply Chain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Seed Producer (National Seed Corp / ICAR)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     ⬇ (takes 10% cut)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State Distributor / Wholesaler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     ⬇ (takes 12% cut)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City Mandi Commission Agent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     ⬇ (takes 15% cut)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Local Village Unverified Trader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     ⬇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Farmer (Pays 40% Extra + High Risk of Fake Seeds)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4532D"/>
                </a:solidFill>
              </a:defRPr>
            </a:pPr>
            <a:r>
              <a:t>✅  AgriSeed Direct-to-Farmer Model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Verified Seed Producers &amp; Cooperatives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     ↕ Direct Connection (0% Commission Middlemen)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AGRISEED DIGITAL AGRICULTURAL MARKETPLACE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 • Certified Government License Verification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 • Agronomic Technical Specifications &amp; Sowing Advisory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 • Dynamic Pack Size Pricing &amp; Kisan Subsidy Discounts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 • 5-Stage Live Dispatch Tracking (AgriExpress Fleet)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     ↕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Progressive Farmers (Direct Farm Gate Village Delivery)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>
        <p14:prism isContent="1"/>
      </p:transition>
    </mc:Choice>
    <mc:Fallback>
      <p:transition spd="slow" advClick="0" advTm="5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TECHNICAL IMPLEMENTATION</a:t>
            </a:r>
          </a:p>
          <a:p>
            <a:pPr>
              <a:defRPr sz="2400" b="1">
                <a:solidFill>
                  <a:srgbClr val="14532D"/>
                </a:solidFill>
              </a:defRPr>
            </a:pPr>
            <a:r>
              <a:t>Full-Stack Technology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8346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4532D"/>
                </a:solidFill>
              </a:defRPr>
            </a:pPr>
            <a:r>
              <a:t>💻  Frontend Presentation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Semantic HTML5 &amp; Modern Responsive CSS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Agricultural Emerald UI Design System (Green, Amber, Mint).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Vanilla JavaScript (ES6+) for dynamic pack pricing &amp; cart state.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Interactive Asynchronous Modals, QR Code simulation &amp; Toasts.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17720" y="1828800"/>
            <a:ext cx="28346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4532D"/>
                </a:solidFill>
              </a:defRPr>
            </a:pPr>
            <a:r>
              <a:t>⚙️  Backend Application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Python Flask (v3.12+) Modular REST API Architecture.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Jinja2 Server-Side Templating Engine with context injection.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Role-Based Access Control (Farmer vs. Admin Manager).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Werkzeug SHA-256 encrypted password hashing.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6634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75320" y="1828800"/>
            <a:ext cx="28346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4532D"/>
                </a:solidFill>
              </a:defRPr>
            </a:pPr>
            <a:r>
              <a:t>🗄️  Database &amp; Resilience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MongoDB NoSQL Document Store for heterogeneous products.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Dual-Mode Connection Engine: Native PyMongo connection.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Automated Embedded JSON Fallback Engine (Zero-Config startup).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100% Reliable Execution for College Viva on any computer.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>
        <p14:prism isContent="1"/>
      </p:transition>
    </mc:Choice>
    <mc:Fallback>
      <p:transition spd="slow" advClick="0" advTm="5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PROTOTYPE OVERVIEW</a:t>
            </a:r>
          </a:p>
          <a:p>
            <a:pPr>
              <a:defRPr sz="2400" b="1">
                <a:solidFill>
                  <a:srgbClr val="14532D"/>
                </a:solidFill>
              </a:defRPr>
            </a:pPr>
            <a:r>
              <a:t>10-Screen Complete User Journey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4532D"/>
                </a:solidFill>
              </a:defRPr>
            </a:pPr>
            <a:r>
              <a:t>🌾  Discovery &amp; Authentication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1. Welcome / Splash Screen: Sprout branding &amp; value badges.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2. Home Page: Search, category counts &amp; Krishi Advisory ticker.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3. Farmer Auth: Login, Farm registration &amp; 1-Click Demo logins.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4532D"/>
                </a:solidFill>
              </a:defRPr>
            </a:pPr>
            <a:r>
              <a:t>📋  Catalog &amp; Agronomy Details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4. Product Categories: 4 departments &amp; crop filters.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5. Product Details: Dynamic pack selector, specs &amp; reviews.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6. Shopping Cart: Quantity steppers &amp; Kisan subsidy engine.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4206240"/>
            <a:ext cx="466344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4532D"/>
                </a:solidFill>
              </a:defRPr>
            </a:pPr>
            <a:r>
              <a:t>🚚  Checkout &amp; Logistics Tracking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7. Checkout: Village address &amp; UPI/Card/COD payments.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8. Order Tracking: 5-stage live dispatch progress stepper.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23360"/>
            <a:ext cx="5212080" cy="22860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4206240"/>
            <a:ext cx="475488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4532D"/>
                </a:solidFill>
              </a:defRPr>
            </a:pPr>
            <a:r>
              <a:t>🛡️  Dashboards &amp; Management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9. Farmer Dashboard: Active dispatches, farm profile &amp; points.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10. Admin Dashboard: Store KPIs, Product CRUD &amp; Order Manager.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>
        <p14:prism isContent="1"/>
      </p:transition>
    </mc:Choice>
    <mc:Fallback>
      <p:transition spd="slow" advTm="5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CORE FEATURES</a:t>
            </a:r>
          </a:p>
          <a:p>
            <a:pPr>
              <a:defRPr sz="2400" b="1">
                <a:solidFill>
                  <a:srgbClr val="14532D"/>
                </a:solidFill>
              </a:defRPr>
            </a:pPr>
            <a:r>
              <a:t>Agricultural Catalog &amp; Agronomic Precision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8346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4532D"/>
                </a:solidFill>
              </a:defRPr>
            </a:pPr>
            <a:r>
              <a:t>📦  4 Primary Departments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🌾 Certified Seeds: Basmati Rice, Wheat 1105, Bt Cotton, Hybrid Tomato, Mustard.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🧪 Fertilizers: NPK 19:19:19 Soluble, Organic Neem Cake, Zinc EDTA 12%.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🌱 Crop Protection: Bio-Neem Shield (10,000 PPM), Kavach Bio-Larvicide, Fungicide.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🚜 Farming Equipment: 16L Battery Sprayer, Manual Seed Drill, Drip Kits.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6634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17720" y="1828800"/>
            <a:ext cx="28346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4532D"/>
                </a:solidFill>
              </a:defRPr>
            </a:pPr>
            <a:r>
              <a:t>📋  Agronomic Technical Data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Germination Emergence Rate (e.g. 92-95%).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Genetic Purity &amp; Moisture Content standards.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Sowing Season &amp; Maturity Period (Days).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Yield Potential per Acre expectation.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Dosage &amp; Sowing Guide per hectare/acre.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6634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75320" y="1828800"/>
            <a:ext cx="28346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D97706"/>
                </a:solidFill>
              </a:defRPr>
            </a:pPr>
            <a:r>
              <a:t>⚡  Dynamic Pack Pricing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Interactive Unit Pack Selector: 1 kg, 5 kg, 25 kg Bag / 500ml, 1L.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Client-side instant price recalculation.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Real-time regional stock inventory tracker.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Verified producer license &amp; contact transparency.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>
        <p14:prism isContent="1"/>
      </p:transition>
    </mc:Choice>
    <mc:Fallback>
      <p:transition spd="slow" advClick="0" advTm="5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TRANSACTIONS &amp; SUBSIDIES</a:t>
            </a:r>
          </a:p>
          <a:p>
            <a:pPr>
              <a:defRPr sz="2400" b="1">
                <a:solidFill>
                  <a:srgbClr val="14532D"/>
                </a:solidFill>
              </a:defRPr>
            </a:pPr>
            <a:r>
              <a:t>Kisan Subsidy &amp; Multi-Payment Checkout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6634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8346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D97706"/>
                </a:solidFill>
              </a:defRPr>
            </a:pPr>
            <a:r>
              <a:t>🏷️  Kisan Subsidy Engine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Coupon code 'KISAN50' applies 10% direct farmer subsidy.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Coupon 'AGRISEED100' provides flat ₹100 discount.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Automated Free Delivery rule on orders above ₹999 across rural districts.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Real-time subtotal, savings, and net payable calculation.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17720" y="1828800"/>
            <a:ext cx="28346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4532D"/>
                </a:solidFill>
              </a:defRPr>
            </a:pPr>
            <a:r>
              <a:t>💳  3 Payment Gateways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📱 UPI (Google Pay, PhonePe, Paytm, BHIM): Dynamic QR code &amp; VPA input.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💳 Debit / Credit Card: Card number, expiry, CVV &amp; OTP validation.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💵 Cash on Delivery (COD): Pay on village farm gate delivery after inspecting seed seal.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6634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75320" y="1828800"/>
            <a:ext cx="28346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4532D"/>
                </a:solidFill>
              </a:defRPr>
            </a:pPr>
            <a:r>
              <a:t>📍  Farm Delivery Logistics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Village, Tehsil, District, and State localized addressing.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Automated SMS/Phone notification for delivery.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Instant unique Order ID generation (#AGRI-XXXXXX).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Stock inventory auto-decrement on order placement.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>
        <p14:prism isContent="1"/>
      </p:transition>
    </mc:Choice>
    <mc:Fallback>
      <p:transition spd="slow" advClick="0" advTm="5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LOGISTICS TRANSPARENCY</a:t>
            </a:r>
          </a:p>
          <a:p>
            <a:pPr>
              <a:defRPr sz="2400" b="1">
                <a:solidFill>
                  <a:srgbClr val="14532D"/>
                </a:solidFill>
              </a:defRPr>
            </a:pPr>
            <a:r>
              <a:t>5-Stage Rural Order Tracking Stepper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20116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102412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4532D"/>
                </a:solidFill>
              </a:defRPr>
            </a:pPr>
            <a:r>
              <a:t>🚚  5-Milestone Lifecycle Progress Stepper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[ 1. Ordered ]  ➔  [ 2. Confirmed ]  ➔  [ 3. Shipped ]  ➔  [ 4. Out for Delivery ]  ➔  [ 5. Delivered ]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Visual progress bar dynamically moves based on real-time fulfillment stage.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Admin status updates in Store Management Console immediately reflect on the farmer's live tracker!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1206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4114800"/>
            <a:ext cx="466344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4532D"/>
                </a:solidFill>
              </a:defRPr>
            </a:pPr>
            <a:r>
              <a:t>📋  Logistics Dispatch Metadata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Courier Partner: AgriExpress Rural Fleet.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AWB Number &amp; Vehicle Registration (e.g. HR-05-AB-7721).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Driver Name &amp; Direct Contact Phone number.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Estimated farm arrival date (3-4 business days).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4114800"/>
            <a:ext cx="47548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4532D"/>
                </a:solidFill>
              </a:defRPr>
            </a:pPr>
            <a:r>
              <a:t>🖨️  Activity Log &amp; Official Bill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Chronological timestamped depot log entries.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Printable Official Agricultural Invoice with tax breakdowns.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Eligible for government subsidy reimbursement records.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>
        <p14:prism isContent="1"/>
      </p:transition>
    </mc:Choice>
    <mc:Fallback>
      <p:transition spd="slow" advClick="0" advTm="50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ADMINISTRATIVE CONTROL</a:t>
            </a:r>
          </a:p>
          <a:p>
            <a:pPr>
              <a:defRPr sz="2400" b="1">
                <a:solidFill>
                  <a:srgbClr val="14532D"/>
                </a:solidFill>
              </a:defRPr>
            </a:pPr>
            <a:r>
              <a:t>Admin Store Manager &amp; Order Logistics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4532D"/>
                </a:solidFill>
              </a:defRPr>
            </a:pPr>
            <a:r>
              <a:t>📊  Store KPIs &amp; Stock Alerts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Real-time metric cards: Total Registered Farmers, Catalog Items, Orders, Revenue.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Low-stock inventory badges flagging items under 25 units at regional depots.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4532D"/>
                </a:solidFill>
              </a:defRPr>
            </a:pPr>
            <a:r>
              <a:t>🔄  Live Order Status Coordinator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Dropdown control to advance orders through the 5 fulfillment stages.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Directly synchronizes with the customer's live tracking stepper view.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4206240"/>
            <a:ext cx="466344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4532D"/>
                </a:solidFill>
              </a:defRPr>
            </a:pPr>
            <a:r>
              <a:t>🌾  Product Catalog CRUD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Add New Product Modal with agronomy specifications, season, price &amp; stock.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Delete and modify existing products in the store catalog.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23360"/>
            <a:ext cx="52120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4206240"/>
            <a:ext cx="475488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4532D"/>
                </a:solidFill>
              </a:defRPr>
            </a:pPr>
            <a:r>
              <a:t>🏢  Farmer &amp; Seller Directory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Complete directory of registered farmers, land holdings, and Kisan points.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Verified seed vendor registry with authorized government license records.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>
        <p14:prism isContent="1"/>
      </p:transition>
    </mc:Choice>
    <mc:Fallback>
      <p:transition spd="slow" advClick="0" advTm="50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DATA ARCHITECTURE</a:t>
            </a:r>
          </a:p>
          <a:p>
            <a:pPr>
              <a:defRPr sz="2400" b="1">
                <a:solidFill>
                  <a:srgbClr val="14532D"/>
                </a:solidFill>
              </a:defRPr>
            </a:pPr>
            <a:r>
              <a:t>MongoDB Schema &amp; Database Resilience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8346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4532D"/>
                </a:solidFill>
              </a:defRPr>
            </a:pPr>
            <a:r>
              <a:t>🗄️  5 Core Collections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users: Farmers (land size, crops, village) &amp; Admin roles.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products: Seeds, Fertilizers, Pesticides, Equipment with specs.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sellers: Authorized Krishi Kendra vendors with license numbers.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orders: Subtotal, items, status history, courier details.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reviews: Farmer field ratings &amp; comments.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6634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17720" y="1828800"/>
            <a:ext cx="28346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4532D"/>
                </a:solidFill>
              </a:defRPr>
            </a:pPr>
            <a:r>
              <a:t>💡  Why MongoDB NoSQL?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Heterogeneous product schemas without complex SQL sparse tables.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Embedded status_history arrays for chronological timeline logs.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JSON document flexibility for varying agricultural attributes.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Fast query execution for multi-faceted crop filtering.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6634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75320" y="1828800"/>
            <a:ext cx="28346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D97706"/>
                </a:solidFill>
              </a:defRPr>
            </a:pPr>
            <a:r>
              <a:t>🛡️  Dual-Mode Resilience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Connects to Live MongoDB (port 27017) if available.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Auto-fallback to Embedded JSON-persisted Database Engine if MongoDB is offline.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100% Zero-Config execution for College Viva on any computer!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>
        <p14:prism isContent="1"/>
      </p:transition>
    </mc:Choice>
    <mc:Fallback>
      <p:transition spd="slow" advClick="0" advTm="500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EVALUATION &amp; RESULTS</a:t>
            </a:r>
          </a:p>
          <a:p>
            <a:pPr>
              <a:defRPr sz="2400" b="1">
                <a:solidFill>
                  <a:srgbClr val="14532D"/>
                </a:solidFill>
              </a:defRPr>
            </a:pPr>
            <a:r>
              <a:t>Testing, Validation &amp; Project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4532D"/>
                </a:solidFill>
              </a:defRPr>
            </a:pPr>
            <a:r>
              <a:t>🧪  Automated Test Suite (100% Pass)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test_01: Welcome / Splash &amp; Home Page rendering [PASS]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test_02: Catalog filtering &amp; crop suitability search [PASS]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test_03: Product details &amp; farmer review submission [PASS]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test_04: Cart quantity steppers &amp; Kisan subsidy coupon [PASS]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test_05: Farmer auth &amp; 1-click Demo Logins [PASS]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test_06: Checkout, UPI payment &amp; Order creation [PASS]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test_07: Admin Dashboard, Order Status &amp; Product CRUD [PASS]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Result: All 7 test suites passed successfully with zero errors.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4532D"/>
                </a:solidFill>
              </a:defRPr>
            </a:pPr>
            <a:r>
              <a:t>🌱  Measurable Socio-Economic Impact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25-30% Reduction in Agricultural Input Costs: Removing middlemen margins saves thousands of rupees per harvest.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90%+ Guaranteed Germination: Eliminates the devastating risk of fake seeds.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Direct Farm-Gate Logistics: Saves 2-3 working days per sowing cycle.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Digital Literacy &amp; Empowerment: Simple, intuitive, large-button UI tailored for rural farmers.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>
        <p14:prism isContent="1"/>
      </p:transition>
    </mc:Choice>
    <mc:Fallback>
      <p:transition spd="slow" advClick="0" advTm="500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FUTURE ROADMAP</a:t>
            </a:r>
          </a:p>
          <a:p>
            <a:pPr>
              <a:defRPr sz="2400" b="1">
                <a:solidFill>
                  <a:srgbClr val="14532D"/>
                </a:solidFill>
              </a:defRPr>
            </a:pPr>
            <a:r>
              <a:t>Future Enhancements &amp; Scalability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8346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4532D"/>
                </a:solidFill>
              </a:defRPr>
            </a:pPr>
            <a:r>
              <a:t>🤖  1. AI Crop Disease Diagnostics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Integrate Deep Learning (CNN) vision model to detect leaf diseases from phone photos.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Instantly recommends certified organic or chemical remedies available in the catalog.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6634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17720" y="1828800"/>
            <a:ext cx="28346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4532D"/>
                </a:solidFill>
              </a:defRPr>
            </a:pPr>
            <a:r>
              <a:t>🎙️  2. Multilingual Voice AI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Add Speech-to-Text and Voice Assistant in Hindi, Punjabi, Marathi, Telugu, Tamil, and Bengali.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Allows farmers with lower literacy to order seeds by simply speaking.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6634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75320" y="1828800"/>
            <a:ext cx="28346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D97706"/>
                </a:solidFill>
              </a:defRPr>
            </a:pPr>
            <a:r>
              <a:t>📡  3. IoT Soil &amp; Weather Sync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Connect low-cost IoT soil NPK/moisture sensors to farmer dashboard.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Automated predictive fertilizer dosage and irrigation alerts.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>
        <p14:prism isContent="1"/>
      </p:transition>
    </mc:Choice>
    <mc:Fallback>
      <p:transition spd="slow" advClick="0" advTm="500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🌾 AgriSeed: Ready for Live Demonstration</a:t>
            </a:r>
          </a:p>
          <a:p>
            <a:pPr>
              <a:spcAft>
                <a:spcPts val="2800"/>
              </a:spcAft>
              <a:defRPr sz="2000" i="1">
                <a:solidFill>
                  <a:srgbClr val="FEF3C7"/>
                </a:solidFill>
              </a:defRPr>
            </a:pPr>
            <a:r>
              <a:t>“Transforming Agricultural Procurement for a Self-Reliant India (Atmanirbhar Krishi)”</a:t>
            </a:r>
          </a:p>
          <a:p>
            <a:pPr>
              <a:spcAft>
                <a:spcPts val="800"/>
              </a:spcAft>
              <a:defRPr sz="1800" b="1">
                <a:solidFill>
                  <a:srgbClr val="22C55E"/>
                </a:solidFill>
              </a:defRPr>
            </a:pPr>
            <a:r>
              <a:t>⚡ Live Prototype Link: http://127.0.0.1:5000</a:t>
            </a:r>
          </a:p>
          <a:p>
            <a:pPr>
              <a:spcAft>
                <a:spcPts val="2800"/>
              </a:spcAft>
              <a:defRPr sz="1400">
                <a:solidFill>
                  <a:srgbClr val="FFFFFF"/>
                </a:solidFill>
              </a:defRPr>
            </a:pPr>
            <a:r>
              <a:t>• Farmer Demo: farmer@agriseed.in (farmer123)   |   • Admin Demo: admin@agriseed.in (admin123)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Thank You! Questions &amp; Discussion are warmly welcomed.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>
        <p14:prism isContent="1"/>
      </p:transition>
    </mc:Choice>
    <mc:Fallback>
      <p:transition spd="slow" advClick="0" advTm="50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1894</Words>
  <Application>Microsoft Office PowerPoint</Application>
  <PresentationFormat>Widescreen</PresentationFormat>
  <Paragraphs>201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YADAM GOPIKRISHNA</cp:lastModifiedBy>
  <cp:revision>2</cp:revision>
  <dcterms:created xsi:type="dcterms:W3CDTF">2013-01-27T09:14:16Z</dcterms:created>
  <dcterms:modified xsi:type="dcterms:W3CDTF">2026-08-22T13:31:23Z</dcterms:modified>
  <cp:category/>
</cp:coreProperties>
</file>